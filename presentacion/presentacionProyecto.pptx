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18288000" cy="10287000"/>
  <p:notesSz cx="6858000" cy="9144000"/>
  <p:embeddedFontLst>
    <p:embeddedFont>
      <p:font typeface="Codec Pro Bold" charset="1" panose="00000600000000000000"/>
      <p:regular r:id="rId20"/>
    </p:embeddedFont>
    <p:embeddedFont>
      <p:font typeface="Codec Pro Ultra-Bold" charset="1" panose="00000700000000000000"/>
      <p:regular r:id="rId21"/>
    </p:embeddedFont>
    <p:embeddedFont>
      <p:font typeface="Codec Pro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531401" y="7032332"/>
            <a:ext cx="7225199" cy="700433"/>
            <a:chOff x="0" y="0"/>
            <a:chExt cx="1356880" cy="131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6880" cy="131540"/>
            </a:xfrm>
            <a:custGeom>
              <a:avLst/>
              <a:gdLst/>
              <a:ahLst/>
              <a:cxnLst/>
              <a:rect r="r" b="b" t="t" l="l"/>
              <a:pathLst>
                <a:path h="131540" w="135688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613950" y="1825372"/>
            <a:ext cx="955143" cy="1002536"/>
          </a:xfrm>
          <a:custGeom>
            <a:avLst/>
            <a:gdLst/>
            <a:ahLst/>
            <a:cxnLst/>
            <a:rect r="r" b="b" t="t" l="l"/>
            <a:pathLst>
              <a:path h="1002536" w="955143">
                <a:moveTo>
                  <a:pt x="0" y="0"/>
                </a:moveTo>
                <a:lnTo>
                  <a:pt x="955143" y="0"/>
                </a:lnTo>
                <a:lnTo>
                  <a:pt x="955143" y="1002536"/>
                </a:lnTo>
                <a:lnTo>
                  <a:pt x="0" y="1002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2880000" y="2700000"/>
            <a:ext cx="12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Vectorizacion de un Kernel Numerico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4320000"/>
            <a:ext cx="12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0F2FD"/>
                </a:solidFill>
                <a:latin typeface="Calibri"/>
              </a:rPr>
              <a:t>Deteccion de Bordes con el Operador Prewitt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5400000"/>
            <a:ext cx="12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0F2FD"/>
                </a:solidFill>
                <a:latin typeface="Calibri"/>
              </a:rPr>
              <a:t>y su Analisis de Rendimiento usando Intel Advisor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666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B02C"/>
                </a:solidFill>
                <a:latin typeface="Calibri"/>
              </a:rPr>
              <a:t>Programacion en Plataformas Multicore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738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4E5EC"/>
                </a:solidFill>
                <a:latin typeface="Calibri"/>
              </a:rPr>
              <a:t>Dr. Mario Rossainz Lopez  |  BUAP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4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5193E"/>
                </a:solidFill>
                <a:latin typeface="Calibri"/>
              </a:rPr>
              <a:t>CONTENIDO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80000"/>
            <a:ext cx="15120000" cy="6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01   Contexto - Deteccion de bordes en imagenes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02   El Operador Prewitt - mascaras y gradiente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03   Intensidad Aritmetica y el modelo Roofline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04   Vectorizacion SIMD - las 4 estrategias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05   Intel Advisor - herramienta de analisis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06   Resultados - tiempos, GFLOPS y Survey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07   Analisis Roofline - memory-bound confirmado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08   Ley de Amdahl - limite del speedup total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09   Comparacion y Conclusiones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3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93E"/>
                </a:solidFill>
                <a:latin typeface="Calibri"/>
              </a:rPr>
              <a:t>Deteccion de Bordes en Imagenes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988000"/>
            <a:ext cx="13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Un borde es un cambio brusco en la intensidad de los pixeles. Los bordes marcan limites entre objetos y son la base de sistemas de vision artificial.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4320000"/>
            <a:ext cx="13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666F8"/>
                </a:solidFill>
                <a:latin typeface="Calibri"/>
              </a:rPr>
              <a:t>Aplicaciones: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5040000"/>
            <a:ext cx="136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Imagenes medicas (tomografia, resonancia magnetica)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Vehiculos autonomos y deteccion de carriles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Analisis satelital - delimitacion de zonas urbanas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Robotica - localizacion y evasion de obstaculos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Pre-procesamiento para redes neuronales (CNN)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FFB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3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93E"/>
                </a:solidFill>
                <a:latin typeface="Calibri"/>
              </a:rPr>
              <a:t>Objetivo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951999"/>
            <a:ext cx="13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15193E"/>
                </a:solidFill>
                <a:latin typeface="Calibri"/>
              </a:rPr>
              <a:t>Analizar el rendimiento de cuatro estrategias de vectorizacion SIMD aplicadas al kernel del operador Prewitt, midiendo el impacto real con Intel Advisor sobre imagenes de 256x256 pixeles.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4680000"/>
            <a:ext cx="13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666F8"/>
                </a:solidFill>
                <a:latin typeface="Calibri"/>
              </a:rPr>
              <a:t>Que se implemento: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5400000"/>
            <a:ext cx="1368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1.  Kernel escalar en C++ - linea base sin vectorizacion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2.  Vectorizacion automatica - el compilador (icpx) decide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3.  Vectorizacion guiada - programador sugiere con #pragma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4.  Vectorizacion explicita - programador escribe AVX2 directamente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N total = 256 x 256 x 800 = 52,428,800 operaciones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15193E"/>
                </a:solidFill>
                <a:latin typeface="Calibri"/>
              </a:rPr>
              <a:t>Analisis con Intel Advisor: Survey, Roofline, Trip counts, FLOP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3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93E"/>
                </a:solidFill>
                <a:latin typeface="Calibri"/>
              </a:rPr>
              <a:t>El Operador Prewitt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80000"/>
            <a:ext cx="13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Creado por Judith M.S. Prewitt (1970). Detecta bordes calculando el gradiente de la imagen usando dos mascaras 3x3 de pesos uniformes.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4140000"/>
            <a:ext cx="13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666F8"/>
                </a:solidFill>
                <a:latin typeface="Calibri"/>
              </a:rPr>
              <a:t>Comparacion con otros operadores: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4860000"/>
            <a:ext cx="151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Prewitt  (este proyecto):</a:t>
            </a:r>
          </a:p>
          <a:p>
            <a:pPr algn="l"/>
            <a:r>
              <a:rPr sz="2100" b="0" i="0">
                <a:solidFill>
                  <a:srgbClr val="15193E"/>
                </a:solidFill>
                <a:latin typeface="Calibri"/>
              </a:rPr>
              <a:t>  Pesos uniformes (todos +/-1). El mas simple. Ideal para estudiar memory-bound.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6660000"/>
            <a:ext cx="15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Sobel:</a:t>
            </a:r>
          </a:p>
          <a:p>
            <a:pPr algn="l"/>
            <a:r>
              <a:rPr sz="2100" b="0" i="0">
                <a:solidFill>
                  <a:srgbClr val="15193E"/>
                </a:solidFill>
                <a:latin typeface="Calibri"/>
              </a:rPr>
              <a:t>  Pondera el centro con +/-2. Mas preciso, coste computacional similar.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8100000"/>
            <a:ext cx="15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Canny:</a:t>
            </a:r>
          </a:p>
          <a:p>
            <a:pPr algn="l"/>
            <a:r>
              <a:rPr sz="2100" b="0" i="0">
                <a:solidFill>
                  <a:srgbClr val="15193E"/>
                </a:solidFill>
                <a:latin typeface="Calibri"/>
              </a:rPr>
              <a:t>  Multi-etapa con histeresis. Mas preciso pero no vectorizable facilmente.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3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93E"/>
                </a:solidFill>
                <a:latin typeface="Calibri"/>
              </a:rPr>
              <a:t>Las Mascaras de Convolucion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08000"/>
            <a:ext cx="13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El operador aplica dos mascaras 3x3. Cada mascara se 'desliza' sobre la imagen y calcula una suma ponderada de los 9 pixeles vecinos: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37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5666F8"/>
                </a:solidFill>
                <a:latin typeface="Calibri"/>
              </a:rPr>
              <a:t>Kx  -  detecta bordes VERTICALES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0000" y="4500000"/>
            <a:ext cx="5760000" cy="2700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0000" y="4680000"/>
            <a:ext cx="54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93E"/>
                </a:solidFill>
                <a:latin typeface="Courier New"/>
              </a:rPr>
              <a:t>  -1    0    +1
  -1    0    +1
  -1    0    +1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0000" y="378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5666F8"/>
                </a:solidFill>
                <a:latin typeface="Calibri"/>
              </a:rPr>
              <a:t>Ky  -  detecta bordes HORIZONTALES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0000" y="4500000"/>
            <a:ext cx="5760000" cy="2700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0000" y="4680000"/>
            <a:ext cx="54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93E"/>
                </a:solidFill>
                <a:latin typeface="Courier New"/>
              </a:rPr>
              <a:t>  +1   +1   +1
    0     0     0
  -1    -1    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0000" y="7740000"/>
            <a:ext cx="151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15193E"/>
                </a:solidFill>
                <a:latin typeface="Calibri"/>
              </a:rPr>
              <a:t>Gx = imagen convolucionada con Kx  (gradiente horizontal)
Gy = imagen convolucionada con Ky  (gradiente vertical)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3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193E"/>
                </a:solidFill>
                <a:latin typeface="Calibri"/>
              </a:rPr>
              <a:t>Calculo de la Magnitud del Gradiente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80000"/>
            <a:ext cx="13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Tras calcular Gx y Gy, la magnitud del borde en cada pixel i es: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0" y="3780000"/>
            <a:ext cx="15120000" cy="1620000"/>
          </a:xfrm>
          <a:prstGeom prst="rect">
            <a:avLst/>
          </a:prstGeom>
          <a:solidFill>
            <a:srgbClr val="E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0000" y="4031999"/>
            <a:ext cx="151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193E"/>
                </a:solidFill>
                <a:latin typeface="Courier New"/>
              </a:rPr>
              <a:t>G[i]  =  raiz( Gx[i]^2  +  Gy[i]^2 )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5940000"/>
            <a:ext cx="15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666F8"/>
                </a:solidFill>
                <a:latin typeface="Calibri"/>
              </a:rPr>
              <a:t>Operaciones necesarias por pixel: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6552000"/>
            <a:ext cx="151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193E"/>
                </a:solidFill>
                <a:latin typeface="Calibri"/>
              </a:rPr>
              <a:t>1.  Gx[i] x Gx[i]   -&gt;  1 multiplicacion  (1 FLOP)</a:t>
            </a:r>
          </a:p>
          <a:p>
            <a:pPr algn="l"/>
            <a:r>
              <a:rPr sz="2200" b="0">
                <a:solidFill>
                  <a:srgbClr val="15193E"/>
                </a:solidFill>
                <a:latin typeface="Calibri"/>
              </a:rPr>
              <a:t>2.  Gy[i] x Gy[i]   -&gt;  1 multiplicacion  (1 FLOP)</a:t>
            </a:r>
          </a:p>
          <a:p>
            <a:pPr algn="l"/>
            <a:r>
              <a:rPr sz="2200" b="0">
                <a:solidFill>
                  <a:srgbClr val="15193E"/>
                </a:solidFill>
                <a:latin typeface="Calibri"/>
              </a:rPr>
              <a:t>3.  Gx^2 + Gy^2      -&gt;  1 suma            (1 FLOP)</a:t>
            </a:r>
          </a:p>
          <a:p>
            <a:pPr algn="l"/>
            <a:r>
              <a:rPr sz="2200" b="0">
                <a:solidFill>
                  <a:srgbClr val="15193E"/>
                </a:solidFill>
                <a:latin typeface="Calibri"/>
              </a:rPr>
              <a:t>4.  raiz( ... )       -&gt;  1 raiz cuadrada  (1 FLOP)</a:t>
            </a:r>
          </a:p>
          <a:p>
            <a:pPr algn="l"/>
            <a:r>
              <a:rPr sz="2200" b="0">
                <a:solidFill>
                  <a:srgbClr val="15193E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5193E"/>
                </a:solidFill>
                <a:latin typeface="Calibri"/>
              </a:rPr>
              <a:t>Total:  4 FLOPs por elemento   &lt;-- este es el KERNEL que se vectoriza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9000000"/>
            <a:ext cx="15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666F8"/>
                </a:solidFill>
                <a:latin typeface="Courier New"/>
              </a:rPr>
              <a:t>El loop central: Mag[i] = sqrtf( Gx[i]*Gx[i] + Gy[i]*Gy[i] 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4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193E"/>
                </a:solidFill>
                <a:latin typeface="Calibri"/>
              </a:rPr>
              <a:t>Intensidad Aritmetica del 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80000"/>
            <a:ext cx="14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La intensidad aritmetica mide cuantos calculos se hacen por cada byte leido de memoria: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0" y="3888000"/>
            <a:ext cx="15120000" cy="1980000"/>
          </a:xfrm>
          <a:prstGeom prst="rect">
            <a:avLst/>
          </a:prstGeom>
          <a:solidFill>
            <a:srgbClr val="E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0000" y="4068000"/>
            <a:ext cx="151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5193E"/>
                </a:solidFill>
                <a:latin typeface="Courier New"/>
              </a:rPr>
              <a:t>I  =  4 FLOPs / (3 x 4 Bytes)  =  4/12  ~  0.333 FLOP/Byte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496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5193E"/>
                </a:solidFill>
                <a:latin typeface="Calibri"/>
              </a:rPr>
              <a:t>Denominador: Gx (lectura) + Gy (lectura) + Mag (escritura) = 3 arreglos x 4 Bytes/float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6300000"/>
            <a:ext cx="15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666F8"/>
                </a:solidFill>
                <a:latin typeface="Calibri"/>
              </a:rPr>
              <a:t>Por que importa este numero: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6948000"/>
            <a:ext cx="151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5193E"/>
                </a:solidFill>
                <a:latin typeface="Calibri"/>
              </a:rPr>
              <a:t>Valor ALTO (&gt;3 FLOP/Byte): el procesador calcula mucho por cada dato leido -&gt; compute-bound</a:t>
            </a:r>
          </a:p>
          <a:p>
            <a:pPr algn="l"/>
            <a:r>
              <a:rPr sz="2100" b="0">
                <a:solidFill>
                  <a:srgbClr val="15193E"/>
                </a:solidFill>
                <a:latin typeface="Calibri"/>
              </a:rPr>
              <a:t>Valor BAJO (0.333):  la memoria no puede dar datos tan rapido como el proc. calcula -&gt; MEMORY-BOUND</a:t>
            </a:r>
          </a:p>
          <a:p>
            <a:pPr algn="l"/>
            <a:r>
              <a:rPr sz="2100" b="0">
                <a:solidFill>
                  <a:srgbClr val="15193E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5193E"/>
                </a:solidFill>
                <a:latin typeface="Calibri"/>
              </a:rPr>
              <a:t>   0.333 FLOP/Byte  -&gt;  el kernel Prewitt es MEMORY-BOUND</a:t>
            </a:r>
          </a:p>
          <a:p>
            <a:pPr algn="l"/>
            <a:r>
              <a:rPr sz="2100" b="0">
                <a:solidFill>
                  <a:srgbClr val="15193E"/>
                </a:solidFill>
                <a:latin typeface="Calibri"/>
              </a:rPr>
              <a:t>   (el cuello de botella es la RAM, no la capacidad de calculo del procesador)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7705" y="0"/>
            <a:ext cx="10401374" cy="10401374"/>
          </a:xfrm>
          <a:custGeom>
            <a:avLst/>
            <a:gdLst/>
            <a:ahLst/>
            <a:cxnLst/>
            <a:rect r="r" b="b" t="t" l="l"/>
            <a:pathLst>
              <a:path h="10401374" w="10401374">
                <a:moveTo>
                  <a:pt x="0" y="0"/>
                </a:moveTo>
                <a:lnTo>
                  <a:pt x="10401374" y="0"/>
                </a:lnTo>
                <a:lnTo>
                  <a:pt x="10401374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54074" y="2254542"/>
            <a:ext cx="955034" cy="9550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4074" y="3807287"/>
            <a:ext cx="955034" cy="9550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54074" y="5362396"/>
            <a:ext cx="955034" cy="9550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54074" y="6917505"/>
            <a:ext cx="955034" cy="9550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4" name="TextBox 33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0000" y="1728000"/>
            <a:ext cx="14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93E"/>
                </a:solidFill>
                <a:latin typeface="Calibri"/>
              </a:rPr>
              <a:t>Vectorizacion SIMD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0" y="2880000"/>
            <a:ext cx="720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SIMD = Single Instruction, Multiple Data.
El procesador opera sobre varios datos a la vez usando registros vectoriales anchos en lugar de procesar uno por uno.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4000" y="2304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4000" y="2411999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0000" y="2376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SSE / SSE2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0000" y="3024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Registros XMM de 128 bits  -&gt;  4 floats por instruccion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4000" y="3852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4000" y="3960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0000" y="3924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AVX / AVX2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0000" y="4572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Registros YMM de 256 bits  -&gt;  8 floats por instruccion  (usado en este proyecto)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4000" y="5400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4000" y="5544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0000" y="5472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AVX-512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0000" y="612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Registros ZMM de 512 bits  -&gt;  16 floats por instruccion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4000" y="6948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4000" y="709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0000" y="702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Sin SIMD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0000" y="7668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Modo escalar: 1 float por instruccion  -&gt;  usa 1/8 de la capacidad real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7705" y="0"/>
            <a:ext cx="10401374" cy="10401374"/>
          </a:xfrm>
          <a:custGeom>
            <a:avLst/>
            <a:gdLst/>
            <a:ahLst/>
            <a:cxnLst/>
            <a:rect r="r" b="b" t="t" l="l"/>
            <a:pathLst>
              <a:path h="10401374" w="10401374">
                <a:moveTo>
                  <a:pt x="0" y="0"/>
                </a:moveTo>
                <a:lnTo>
                  <a:pt x="10401374" y="0"/>
                </a:lnTo>
                <a:lnTo>
                  <a:pt x="10401374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54074" y="2254542"/>
            <a:ext cx="955034" cy="9550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4074" y="3807287"/>
            <a:ext cx="955034" cy="9550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54074" y="5362396"/>
            <a:ext cx="955034" cy="9550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54074" y="6917505"/>
            <a:ext cx="955034" cy="9550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4" name="TextBox 33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FFB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0000" y="1728000"/>
            <a:ext cx="14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5193E"/>
                </a:solidFill>
                <a:latin typeface="Calibri"/>
              </a:rPr>
              <a:t>Las 4 Estrategias de Vectorizacion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0" y="2880000"/>
            <a:ext cx="720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Cuatro versiones del mismo kernel, compiladas con Intel icpx (oneAPI). Solo cambia la estrategia de vectorizacion.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4000" y="2304000"/>
            <a:ext cx="648000" cy="1152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4000" y="2411999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0000" y="2376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1 - Escalar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0000" y="3024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Flags: -O2 -no-vec
1 float por instruccion. Linea base pura sin SIMD.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4000" y="3852000"/>
            <a:ext cx="648000" cy="1152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4000" y="3960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0000" y="3924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2 - Automatica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0000" y="4572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Flags: -O3 -march=native
El compilador detecta y vectoriza automaticamente.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4000" y="5400000"/>
            <a:ext cx="648000" cy="1152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4000" y="5544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0000" y="5472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3 - Guiada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0000" y="612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Pragma: #pragma omp simd simdlen(8)
El programador indica el ancho (8 floats).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4000" y="6948000"/>
            <a:ext cx="648000" cy="1152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4000" y="709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0000" y="702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5193E"/>
                </a:solidFill>
                <a:latin typeface="Calibri"/>
              </a:rPr>
              <a:t>4 - Explicita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0000" y="7668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Intrinsecos: _mm256_*
El programador escribe las instrucciones AVX2 a mano.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4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193E"/>
                </a:solidFill>
                <a:latin typeface="Calibri"/>
              </a:rPr>
              <a:t>El Kernel - Codigo Fuente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700000"/>
            <a:ext cx="15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Las 4 versiones implementan la misma operacion. Solo cambia la estrategia: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3420000"/>
            <a:ext cx="73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666F8"/>
                </a:solidFill>
                <a:latin typeface="Calibri"/>
              </a:rPr>
              <a:t>Escalar  (-O2 -no-vec)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0000" y="3960000"/>
            <a:ext cx="7380000" cy="23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2000" y="4031999"/>
            <a:ext cx="72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5193E"/>
                </a:solidFill>
                <a:latin typeface="Courier New"/>
              </a:rPr>
              <a:t>for (int i=0; i&lt;N; i++)
  Mag[i] = sqrtf(
    Gx[i]*Gx[i] + Gy[i]*Gy[i]);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00" y="3420000"/>
            <a:ext cx="73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666F8"/>
                </a:solidFill>
                <a:latin typeface="Calibri"/>
              </a:rPr>
              <a:t>Automatica  (-O3 -march=native)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0000" y="3960000"/>
            <a:ext cx="7380000" cy="23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0" y="4031999"/>
            <a:ext cx="72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5193E"/>
                </a:solidFill>
                <a:latin typeface="Courier New"/>
              </a:rPr>
              <a:t>// Mismo codigo que escalar!
// El compilador genera AVX2
for (int i=0; i&lt;N; i++)
  Mag[i] = sqrtf(
    Gx[i]*Gx[i] + Gy[i]*Gy[i]);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0000" y="6660000"/>
            <a:ext cx="73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666F8"/>
                </a:solidFill>
                <a:latin typeface="Calibri"/>
              </a:rPr>
              <a:t>Guiada  (#pragma omp simd)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0" y="7200000"/>
            <a:ext cx="7380000" cy="23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2000" y="7272000"/>
            <a:ext cx="72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5193E"/>
                </a:solidFill>
                <a:latin typeface="Courier New"/>
              </a:rPr>
              <a:t>#pragma omp simd simdlen(8)
for (int i=0; i&lt;N; i++)
  Mag[i] = sqrtf(
    Gx[i]*Gx[i] + Gy[i]*Gy[i]);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00" y="6660000"/>
            <a:ext cx="73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666F8"/>
                </a:solidFill>
                <a:latin typeface="Calibri"/>
              </a:rPr>
              <a:t>Explicita  (_mm256_*)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00" y="7200000"/>
            <a:ext cx="7380000" cy="23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0" y="7272000"/>
            <a:ext cx="72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5193E"/>
                </a:solidFill>
                <a:latin typeface="Courier New"/>
              </a:rPr>
              <a:t>__m256 vx = _mm256_loadu_ps(&amp;Gx[i]);
__m256 vy = _mm256_loadu_ps(&amp;Gy[i]);
__m256 s  = _mm256_add_ps(
  _mm256_mul_ps(vx,vx),
  _mm256_mul_ps(vy,vy));
_mm256_storeu_ps(&amp;Mag[i],
  _mm256_sqrt_ps(s));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7705" y="0"/>
            <a:ext cx="10401374" cy="10401374"/>
          </a:xfrm>
          <a:custGeom>
            <a:avLst/>
            <a:gdLst/>
            <a:ahLst/>
            <a:cxnLst/>
            <a:rect r="r" b="b" t="t" l="l"/>
            <a:pathLst>
              <a:path h="10401374" w="10401374">
                <a:moveTo>
                  <a:pt x="0" y="0"/>
                </a:moveTo>
                <a:lnTo>
                  <a:pt x="10401374" y="0"/>
                </a:lnTo>
                <a:lnTo>
                  <a:pt x="10401374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54074" y="2254542"/>
            <a:ext cx="955034" cy="9550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4074" y="3807287"/>
            <a:ext cx="955034" cy="9550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54074" y="5362396"/>
            <a:ext cx="955034" cy="9550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54074" y="6917505"/>
            <a:ext cx="955034" cy="9550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4" name="TextBox 33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0000" y="172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5193E"/>
                </a:solidFill>
                <a:latin typeface="Calibri"/>
              </a:rPr>
              <a:t>Plataforma e Intel Advisor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0" y="2880000"/>
            <a:ext cx="7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Hardware y Software:
  Procesador: Intel (AVX2)
  Compilador: icpx (oneAPI 2025)
  Estandar: C++17
  Imagen: 256x256 pixeles PGM
  N total: 52,428,800 operaciones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4000" y="2304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4000" y="2411999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0000" y="2376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193E"/>
                </a:solidFill>
                <a:latin typeface="Calibri"/>
              </a:rPr>
              <a:t>Survey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0000" y="3024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Identifica bucles, mide tiempos e indica si fueron vectorizados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4000" y="3852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4000" y="3960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0000" y="3924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193E"/>
                </a:solidFill>
                <a:latin typeface="Calibri"/>
              </a:rPr>
              <a:t>Tripcounts + FLOP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0000" y="4572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Cuenta FLOPs reales y bytes transferidos a/desde memoria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4000" y="5400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4000" y="5544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0000" y="5472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193E"/>
                </a:solidFill>
                <a:latin typeface="Calibri"/>
              </a:rPr>
              <a:t>Roofline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0000" y="612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Grafica que muestra si el kernel esta limitado por memoria o calculo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4000" y="6948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4000" y="709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0000" y="702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193E"/>
                </a:solidFill>
                <a:latin typeface="Calibri"/>
              </a:rPr>
              <a:t>Code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0000" y="7668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Identifica que funciones consumen mas tiempo en los bucles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193E"/>
                </a:solidFill>
                <a:latin typeface="Calibri"/>
              </a:rPr>
              <a:t>Resultados: Tiempos y Rendimiento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0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N = 52,428,800 elementos. GFLOPS = 4 x N / tiempo. BW = 3 x 4 x N / tiempo.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0000" y="4140000"/>
            <a:ext cx="3204000" cy="75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2000" y="4284000"/>
            <a:ext cx="31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0000" y="4140000"/>
            <a:ext cx="1944000" cy="75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2000" y="4284000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Tiempo (s)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0" y="4140000"/>
            <a:ext cx="1764000" cy="75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000" y="4284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GFLOPS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0000" y="4140000"/>
            <a:ext cx="2124000" cy="75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2000" y="4284000"/>
            <a:ext cx="20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BW (GB/s)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0" y="4140000"/>
            <a:ext cx="1764000" cy="75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72000" y="4284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Speedup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00000" y="4140000"/>
            <a:ext cx="4104000" cy="75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72000" y="4284000"/>
            <a:ext cx="40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ISA / Ancho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20000" y="4896000"/>
            <a:ext cx="320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2000" y="5040000"/>
            <a:ext cx="31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Escalar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896000"/>
            <a:ext cx="194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2000" y="5040000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0.0354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4896000"/>
            <a:ext cx="176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12000" y="5040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5.92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0000" y="4896000"/>
            <a:ext cx="212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12000" y="5040000"/>
            <a:ext cx="20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17.76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00" y="4896000"/>
            <a:ext cx="176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72000" y="5040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1.00x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600000" y="4896000"/>
            <a:ext cx="410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672000" y="5040000"/>
            <a:ext cx="40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SSE / escalar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20000" y="5652000"/>
            <a:ext cx="3204000" cy="756000"/>
          </a:xfrm>
          <a:prstGeom prst="rect">
            <a:avLst/>
          </a:prstGeom>
          <a:solidFill>
            <a:srgbClr val="D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92000" y="5795999"/>
            <a:ext cx="31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Automatica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0000" y="5652000"/>
            <a:ext cx="1944000" cy="756000"/>
          </a:xfrm>
          <a:prstGeom prst="rect">
            <a:avLst/>
          </a:prstGeom>
          <a:solidFill>
            <a:srgbClr val="D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2000" y="5795999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0.0286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0" y="5652000"/>
            <a:ext cx="1764000" cy="756000"/>
          </a:xfrm>
          <a:prstGeom prst="rect">
            <a:avLst/>
          </a:prstGeom>
          <a:solidFill>
            <a:srgbClr val="D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12000" y="5795999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666F8"/>
                </a:solidFill>
                <a:latin typeface="Calibri"/>
              </a:rPr>
              <a:t>7.34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40000" y="5652000"/>
            <a:ext cx="2124000" cy="756000"/>
          </a:xfrm>
          <a:prstGeom prst="rect">
            <a:avLst/>
          </a:prstGeom>
          <a:solidFill>
            <a:srgbClr val="D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12000" y="5795999"/>
            <a:ext cx="20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22.02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0000" y="5652000"/>
            <a:ext cx="1764000" cy="756000"/>
          </a:xfrm>
          <a:prstGeom prst="rect">
            <a:avLst/>
          </a:prstGeom>
          <a:solidFill>
            <a:srgbClr val="D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72000" y="5795999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666F8"/>
                </a:solidFill>
                <a:latin typeface="Calibri"/>
              </a:rPr>
              <a:t>1.24x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600000" y="5652000"/>
            <a:ext cx="4104000" cy="756000"/>
          </a:xfrm>
          <a:prstGeom prst="rect">
            <a:avLst/>
          </a:prstGeom>
          <a:solidFill>
            <a:srgbClr val="D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672000" y="5795999"/>
            <a:ext cx="40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AVX2 / 16 floats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20000" y="6408000"/>
            <a:ext cx="320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92000" y="6552000"/>
            <a:ext cx="31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Guiada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60000" y="6408000"/>
            <a:ext cx="194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2000" y="6552000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0.0351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40000" y="6408000"/>
            <a:ext cx="176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12000" y="6552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5.97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40000" y="6408000"/>
            <a:ext cx="212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12000" y="6552000"/>
            <a:ext cx="20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17.90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00000" y="6408000"/>
            <a:ext cx="176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72000" y="6552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1.01x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600000" y="6408000"/>
            <a:ext cx="4104000" cy="75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672000" y="6552000"/>
            <a:ext cx="40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AVX2 / 8 floats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20000" y="7163999"/>
            <a:ext cx="3204000" cy="7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92000" y="7307999"/>
            <a:ext cx="31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Explicita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0000" y="7163999"/>
            <a:ext cx="1944000" cy="7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32000" y="7307999"/>
            <a:ext cx="187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0.0293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40000" y="7163999"/>
            <a:ext cx="1764000" cy="7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12000" y="7307999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7.15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40000" y="7163999"/>
            <a:ext cx="2124000" cy="7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12000" y="7307999"/>
            <a:ext cx="20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21.44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800000" y="7163999"/>
            <a:ext cx="1764000" cy="7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72000" y="7307999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1.21x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600000" y="7163999"/>
            <a:ext cx="4104000" cy="7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672000" y="7307999"/>
            <a:ext cx="403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5193E"/>
                </a:solidFill>
                <a:latin typeface="Calibri"/>
              </a:rPr>
              <a:t>AVX2 / 32 ef.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80000" y="8316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15193E"/>
                </a:solidFill>
                <a:latin typeface="Calibri"/>
              </a:rPr>
              <a:t>La vectorizacion automatica es la mas rapida (1.24x). La guiada es casi igual al escalar por usar simdlen(8) en lugar de 16.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00608" y="1380534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999" y="136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193E"/>
                </a:solidFill>
                <a:latin typeface="Calibri"/>
              </a:rPr>
              <a:t>Survey de Intel Advisor - Bucles Vectorizados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999" y="219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El Survey identifica cada bucle, mide tiempos e indica si fue vectorizado (SIMD) o no.</a:t>
            </a:r>
          </a:p>
        </p:txBody>
      </p:sp>
      <p:pic>
        <p:nvPicPr>
          <p:cNvPr id="14" name="Picture 13" descr="timeLoops-Esca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060000"/>
            <a:ext cx="16920000" cy="30901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0000" y="6300000"/>
            <a:ext cx="16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Escalar: bucle tipo Scalar (SSE sin empaquetar). Trip count = 6,553,600.</a:t>
            </a:r>
          </a:p>
        </p:txBody>
      </p:sp>
      <p:pic>
        <p:nvPicPr>
          <p:cNvPr id="16" name="Picture 15" descr="timeLoops-A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7020000"/>
            <a:ext cx="16920000" cy="31629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0000" y="10080000"/>
            <a:ext cx="16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Automatica: bucle tipo Vectorized (Body) AVX2. Trip count = 3,276,800 (el doble de floats por iteracion).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5193E"/>
                </a:solidFill>
                <a:latin typeface="Calibri"/>
              </a:rPr>
              <a:t>Trip Count - Cuantas iteraciones por bucle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700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5193E"/>
                </a:solidFill>
                <a:latin typeface="Calibri"/>
              </a:rPr>
              <a:t>N total = 52,428,800 elementos. El trip count baja cuando el bucle procesa mas elementos por iteracion: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0000" y="3960000"/>
            <a:ext cx="3564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2000" y="4068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0000" y="3960000"/>
            <a:ext cx="4284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2000" y="4068000"/>
            <a:ext cx="42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Trip 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0000" y="3960000"/>
            <a:ext cx="3564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2000" y="4068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Ancho vec.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40000" y="3960000"/>
            <a:ext cx="3564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12000" y="4068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Calculo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0000" y="4608000"/>
            <a:ext cx="356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2000" y="4716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Escalar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20000" y="4608000"/>
            <a:ext cx="428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2000" y="4716000"/>
            <a:ext cx="42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6,553,600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0000" y="4608000"/>
            <a:ext cx="356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2000" y="4716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1 float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140000" y="4608000"/>
            <a:ext cx="356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12000" y="4716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N /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0000" y="5256000"/>
            <a:ext cx="356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2000" y="5364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Automatica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20000" y="5256000"/>
            <a:ext cx="428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92000" y="5364000"/>
            <a:ext cx="42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3,276,800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40000" y="5256000"/>
            <a:ext cx="356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2000" y="5364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16 floats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140000" y="5256000"/>
            <a:ext cx="356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12000" y="5364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N / 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20000" y="5903999"/>
            <a:ext cx="356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92000" y="6012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Guiada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20000" y="5903999"/>
            <a:ext cx="428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92000" y="6012000"/>
            <a:ext cx="42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6,553,600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40000" y="5903999"/>
            <a:ext cx="356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2000" y="6012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8 floats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140000" y="5903999"/>
            <a:ext cx="3564000" cy="648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212000" y="6012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N / 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0000" y="6552000"/>
            <a:ext cx="356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92000" y="6660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Explicita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20000" y="6552000"/>
            <a:ext cx="428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92000" y="6660000"/>
            <a:ext cx="42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1,638,400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40000" y="6552000"/>
            <a:ext cx="356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12000" y="6660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32 floats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140000" y="6552000"/>
            <a:ext cx="3564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12000" y="6660000"/>
            <a:ext cx="349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5193E"/>
                </a:solidFill>
                <a:latin typeface="Calibri"/>
              </a:rPr>
              <a:t>N / 32  (unroll 4x)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0000" y="720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666F8"/>
                </a:solidFill>
                <a:latin typeface="Calibri"/>
              </a:rPr>
              <a:t>Por que importa el Trip Count: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20000" y="7848000"/>
            <a:ext cx="158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Un trip count menor significa que el bucle procesa mas elementos por iteracion (ancho vectorial mayor = mas eficiente).
La version Explicita logra trip count 4x menor que la Automatica gracias al desenrollado (unroll 4x) que el compilador aplica sobre los intrinsecos AVX2.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00608" y="1380534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999" y="1368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5193E"/>
                </a:solidFill>
                <a:latin typeface="Calibri"/>
              </a:rPr>
              <a:t>Modelo Roofline - Escalar y Automatica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999" y="2196000"/>
            <a:ext cx="15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El punto de operacion se ubica a la izquierda del punto de cresta (I=0.387). El kernel es MEMORY-BOUND.</a:t>
            </a:r>
          </a:p>
        </p:txBody>
      </p:sp>
      <p:pic>
        <p:nvPicPr>
          <p:cNvPr id="14" name="Picture 13" descr="graficaRoofline-Esca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060000"/>
            <a:ext cx="8460000" cy="2363252"/>
          </a:xfrm>
          <a:prstGeom prst="rect">
            <a:avLst/>
          </a:prstGeom>
        </p:spPr>
      </p:pic>
      <p:pic>
        <p:nvPicPr>
          <p:cNvPr id="15" name="Picture 14" descr="graficaRoofline-A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000" y="3060000"/>
            <a:ext cx="8460000" cy="24258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8000" y="5580000"/>
            <a:ext cx="84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Escalar: punto rojo en zona memory-bound.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000" y="5580000"/>
            <a:ext cx="84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Automatica: mismo punto pero AVX2 activo.</a:t>
            </a:r>
          </a:p>
        </p:txBody>
      </p:sp>
      <p:pic>
        <p:nvPicPr>
          <p:cNvPr id="18" name="Picture 17" descr="graficaRoofline-Gui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6300000"/>
            <a:ext cx="8460000" cy="3365641"/>
          </a:xfrm>
          <a:prstGeom prst="rect">
            <a:avLst/>
          </a:prstGeom>
        </p:spPr>
      </p:pic>
      <p:pic>
        <p:nvPicPr>
          <p:cNvPr id="19" name="Picture 18" descr="graficaRoofline-Explic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000" y="6300000"/>
            <a:ext cx="8460000" cy="32096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8000" y="9648000"/>
            <a:ext cx="84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Guiada: ancho AVX2 de 8, rendimiento similar al escalar.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000" y="9648000"/>
            <a:ext cx="84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Explicita: ancho efectivo 32 (unroll 4x), aun memory-bound.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193E"/>
                </a:solidFill>
                <a:latin typeface="Calibri"/>
              </a:rPr>
              <a:t>Que Significa Memory-Bound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880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5193E"/>
                </a:solidFill>
                <a:latin typeface="Calibri"/>
              </a:rPr>
              <a:t>El modelo Roofline define el rendimiento maximo posible segun la intensidad aritmetica: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0" y="3888000"/>
            <a:ext cx="15120000" cy="1620000"/>
          </a:xfrm>
          <a:prstGeom prst="rect">
            <a:avLst/>
          </a:prstGeom>
          <a:solidFill>
            <a:srgbClr val="E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0000" y="4068000"/>
            <a:ext cx="15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193E"/>
                </a:solidFill>
                <a:latin typeface="Courier New"/>
              </a:rPr>
              <a:t>I_cresta = P_peak / BW_mem = 9.28 GFLOPS / 24 GB/s  ~  0.387 FLOP/Byte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4788000"/>
            <a:ext cx="15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5193E"/>
                </a:solidFill>
                <a:latin typeface="Calibri"/>
              </a:rPr>
              <a:t>Prewitt: I = 0.333 &lt; 0.387  -&gt;  MEMORY-BOUND  (a la izquierda del punto de cresta)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6120000"/>
            <a:ext cx="15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666F8"/>
                </a:solidFill>
                <a:latin typeface="Calibri"/>
              </a:rPr>
              <a:t>Consecuencias practicas: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6840000"/>
            <a:ext cx="151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100" b="0">
                <a:solidFill>
                  <a:srgbClr val="15193E"/>
                </a:solidFill>
                <a:latin typeface="Calibri"/>
              </a:rPr>
              <a:t>Aumentar el ancho SIMD (8x, 16x, 32x) NO mejora al maximo teorico.</a:t>
            </a:r>
          </a:p>
          <a:p>
            <a:pPr algn="l">
              <a:spcBef>
                <a:spcPts val="600"/>
              </a:spcBef>
            </a:pPr>
            <a:r>
              <a:rPr sz="2100" b="0">
                <a:solidFill>
                  <a:srgbClr val="15193E"/>
                </a:solidFill>
                <a:latin typeface="Calibri"/>
              </a:rPr>
              <a:t>El cuello de botella es la velocidad con que la RAM entrega datos.</a:t>
            </a:r>
          </a:p>
          <a:p>
            <a:pPr algn="l">
              <a:spcBef>
                <a:spcPts val="600"/>
              </a:spcBef>
            </a:pPr>
            <a:r>
              <a:rPr sz="2100" b="0">
                <a:solidFill>
                  <a:srgbClr val="15193E"/>
                </a:solidFill>
                <a:latin typeface="Calibri"/>
              </a:rPr>
              <a:t>Rendimiento maximo con DRAM 24 GB/s:  0.333 x 24 = 8.0 GFLOPS</a:t>
            </a:r>
          </a:p>
          <a:p>
            <a:pPr algn="l">
              <a:spcBef>
                <a:spcPts val="600"/>
              </a:spcBef>
            </a:pPr>
            <a:r>
              <a:rPr sz="2100" b="0">
                <a:solidFill>
                  <a:srgbClr val="15193E"/>
                </a:solidFill>
                <a:latin typeface="Calibri"/>
              </a:rPr>
              <a:t>Resultados reales (5.92-7.34 GFLOPS) vienen de la cache L2/L3, no de la RAM.</a:t>
            </a:r>
          </a:p>
          <a:p>
            <a:pPr algn="l">
              <a:spcBef>
                <a:spcPts val="600"/>
              </a:spcBef>
            </a:pPr>
            <a:r>
              <a:rPr sz="2100" b="0">
                <a:solidFill>
                  <a:srgbClr val="15193E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100" b="0">
                <a:solidFill>
                  <a:srgbClr val="15193E"/>
                </a:solidFill>
                <a:latin typeface="Calibri"/>
              </a:rPr>
              <a:t>Conclusion: vectorizar mas no ayuda si la memoria no puede seguir el ritmo.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00608" y="1380534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999" y="136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5193E"/>
                </a:solidFill>
                <a:latin typeface="Calibri"/>
              </a:rPr>
              <a:t>Metricas del Programa - Program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999" y="219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El 88-89% del tiempo es codigo escalar (I/O, gradientes, replicacion). El kernel es solo el 11-12%.</a:t>
            </a:r>
          </a:p>
        </p:txBody>
      </p:sp>
      <p:pic>
        <p:nvPicPr>
          <p:cNvPr id="14" name="Picture 13" descr="summaryProgramMetrics-Esca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060000"/>
            <a:ext cx="8460000" cy="3614656"/>
          </a:xfrm>
          <a:prstGeom prst="rect">
            <a:avLst/>
          </a:prstGeom>
        </p:spPr>
      </p:pic>
      <p:pic>
        <p:nvPicPr>
          <p:cNvPr id="15" name="Picture 14" descr="summaryProgramMetrics-A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000" y="3060000"/>
            <a:ext cx="8460000" cy="34139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8000" y="6768000"/>
            <a:ext cx="84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Escalar: tiempo total 0.28 s, 11% en kernel vectorizado.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000" y="6588000"/>
            <a:ext cx="84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5193E"/>
                </a:solidFill>
                <a:latin typeface="Calibri"/>
              </a:rPr>
              <a:t>Automatica: tiempo total 0.27 s, 11% en kernel AVX2.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7272000"/>
            <a:ext cx="172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666F8"/>
                </a:solidFill>
                <a:latin typeface="Calibri"/>
              </a:rPr>
              <a:t>El 89% restante: lectura de imagen PGM + calculo de gradientes Prewitt + replicacion de datos + escritura.</a:t>
            </a:r>
          </a:p>
        </p:txBody>
      </p:sp>
      <p:pic>
        <p:nvPicPr>
          <p:cNvPr id="19" name="Picture 18" descr="codeAnalytics-Esca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7848000"/>
            <a:ext cx="8100000" cy="6037018"/>
          </a:xfrm>
          <a:prstGeom prst="rect">
            <a:avLst/>
          </a:prstGeom>
        </p:spPr>
      </p:pic>
      <p:pic>
        <p:nvPicPr>
          <p:cNvPr id="20" name="Picture 19" descr="codeAnalytics-Explic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000" y="7848000"/>
            <a:ext cx="8100000" cy="60790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FFB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0000" y="172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5193E"/>
                </a:solidFill>
                <a:latin typeface="Calibri"/>
              </a:rPr>
              <a:t>Ley de Amdahl - Limite del Speedup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700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193E"/>
                </a:solidFill>
                <a:latin typeface="Calibri"/>
              </a:rPr>
              <a:t>Solo el 12% del tiempo total es el kernel vectorizable. El 88% restante (I/O, gradientes, replicacion) es escalar y no se puede vectorizar facilmente.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0000" y="3780000"/>
            <a:ext cx="15120000" cy="1440000"/>
          </a:xfrm>
          <a:prstGeom prst="rect">
            <a:avLst/>
          </a:prstGeom>
          <a:solidFill>
            <a:srgbClr val="E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0000" y="3960000"/>
            <a:ext cx="151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5193E"/>
                </a:solidFill>
                <a:latin typeface="Courier New"/>
              </a:rPr>
              <a:t>S(f) = 1 / [ (1 - p) + p/f ]   con  p=0.12,  1-p=0.88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4680000"/>
            <a:ext cx="15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5193E"/>
                </a:solidFill>
                <a:latin typeface="Calibri"/>
              </a:rPr>
              <a:t>S=speedup total, p=fraccion paralelizable, f=cuanto se acelero esa fraccion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0000" y="5688000"/>
            <a:ext cx="4284000" cy="57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2000" y="5796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Speedup del kernel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0000" y="5688000"/>
            <a:ext cx="3564000" cy="57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2000" y="5796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Speedup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0000" y="5688000"/>
            <a:ext cx="5004000" cy="576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2000" y="5796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Mejora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0000" y="6264000"/>
            <a:ext cx="428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2000" y="6372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1x (escalar)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0000" y="6264000"/>
            <a:ext cx="356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2000" y="6372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1.00x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40000" y="6264000"/>
            <a:ext cx="500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2000" y="6372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---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20000" y="6840000"/>
            <a:ext cx="4284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2000" y="6948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2x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0000" y="6840000"/>
            <a:ext cx="3564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2000" y="6948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1.06x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40000" y="6840000"/>
            <a:ext cx="5004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2000" y="6948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+6%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20000" y="7416000"/>
            <a:ext cx="428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2000" y="7524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4x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0000" y="7416000"/>
            <a:ext cx="356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2000" y="7524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1.10x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40000" y="7416000"/>
            <a:ext cx="500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12000" y="7524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+10%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20000" y="7992000"/>
            <a:ext cx="4284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92000" y="8100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8x (AVX2)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0000" y="7992000"/>
            <a:ext cx="3564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12000" y="8100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1.12x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40000" y="7992000"/>
            <a:ext cx="5004000" cy="5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12000" y="810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+12%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20000" y="8568000"/>
            <a:ext cx="428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92000" y="8676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16x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0000" y="8568000"/>
            <a:ext cx="356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12000" y="8676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1.13x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40000" y="8568000"/>
            <a:ext cx="5004000" cy="576000"/>
          </a:xfrm>
          <a:prstGeom prst="rect">
            <a:avLst/>
          </a:prstGeom>
          <a:solidFill>
            <a:srgbClr val="F0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12000" y="8676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93E"/>
                </a:solidFill>
                <a:latin typeface="Calibri"/>
              </a:rPr>
              <a:t>+13%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20000" y="9144000"/>
            <a:ext cx="4284000" cy="576000"/>
          </a:xfrm>
          <a:prstGeom prst="rect">
            <a:avLst/>
          </a:prstGeom>
          <a:solidFill>
            <a:srgbClr val="FF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92000" y="9252000"/>
            <a:ext cx="42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93E"/>
                </a:solidFill>
                <a:latin typeface="Calibri"/>
              </a:rPr>
              <a:t>infinito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0000" y="9144000"/>
            <a:ext cx="3564000" cy="576000"/>
          </a:xfrm>
          <a:prstGeom prst="rect">
            <a:avLst/>
          </a:prstGeom>
          <a:solidFill>
            <a:srgbClr val="FF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12000" y="9252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93E"/>
                </a:solidFill>
                <a:latin typeface="Calibri"/>
              </a:rPr>
              <a:t>1.14x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40000" y="9144000"/>
            <a:ext cx="5004000" cy="576000"/>
          </a:xfrm>
          <a:prstGeom prst="rect">
            <a:avLst/>
          </a:prstGeom>
          <a:solidFill>
            <a:srgbClr val="FF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12000" y="9252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93E"/>
                </a:solidFill>
                <a:latin typeface="Calibri"/>
              </a:rPr>
              <a:t>+14%  &lt;- LIMITE MAXIMO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7705" y="0"/>
            <a:ext cx="10401374" cy="10401374"/>
          </a:xfrm>
          <a:custGeom>
            <a:avLst/>
            <a:gdLst/>
            <a:ahLst/>
            <a:cxnLst/>
            <a:rect r="r" b="b" t="t" l="l"/>
            <a:pathLst>
              <a:path h="10401374" w="10401374">
                <a:moveTo>
                  <a:pt x="0" y="0"/>
                </a:moveTo>
                <a:lnTo>
                  <a:pt x="10401374" y="0"/>
                </a:lnTo>
                <a:lnTo>
                  <a:pt x="10401374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54074" y="2254542"/>
            <a:ext cx="955034" cy="9550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4074" y="3807287"/>
            <a:ext cx="955034" cy="9550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54074" y="5362396"/>
            <a:ext cx="955034" cy="9550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54074" y="6917505"/>
            <a:ext cx="955034" cy="9550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4" name="TextBox 33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0000" y="1728000"/>
            <a:ext cx="15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193E"/>
                </a:solidFill>
                <a:latin typeface="Calibri"/>
              </a:rPr>
              <a:t>Comparacion entre Estrategias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0" y="2880000"/>
            <a:ext cx="72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Por que la automatica supera a la explicita?
El compilador icpx con -O3 elige ancho 16 y aplica optimizaciones adicionales. El programador eligio ancho 8, pero el compilador aplico unroll 4x.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4000" y="2304000"/>
            <a:ext cx="648000" cy="1152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4000" y="2411999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0000" y="2376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Automatica  1.24x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0000" y="3024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El mejor resultado. Solo requiere -O3 -march=native y __restrict. Sin esfuerzo extra.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4000" y="3852000"/>
            <a:ext cx="648000" cy="1152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4000" y="3960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0000" y="3924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Explicita   1.21x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0000" y="4572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Muy cerca de la automatica. Requiere dominar todos los intrinsecos _mm256_*. Mas complejo.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4000" y="5400000"/>
            <a:ext cx="648000" cy="1152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4000" y="5544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0000" y="5472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Escalar     1.00x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0000" y="612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Linea base. Sin SIMD, el procesador trabaja al 12.5% de su capacidad vectorial maxima.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4000" y="6948000"/>
            <a:ext cx="648000" cy="1152000"/>
          </a:xfrm>
          <a:prstGeom prst="rect">
            <a:avLst/>
          </a:prstGeom>
          <a:solidFill>
            <a:srgbClr val="FFB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4000" y="709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0000" y="702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193E"/>
                </a:solidFill>
                <a:latin typeface="Calibri"/>
              </a:rPr>
              <a:t>Guiada      1.01x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0000" y="7668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5193E"/>
                </a:solidFill>
                <a:latin typeface="Calibri"/>
              </a:rPr>
              <a:t>Similar al escalar. simdlen(8) es suboptimo; simdlen(16) habria igualado a la automatica.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4" id="4"/>
          <p:cNvGrpSpPr/>
          <p:nvPr/>
        </p:nvGrpSpPr>
        <p:grpSpPr>
          <a:xfrm rot="0">
            <a:off x="1575378" y="4618260"/>
            <a:ext cx="9838730" cy="3729551"/>
            <a:chOff x="0" y="0"/>
            <a:chExt cx="2932566" cy="11116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2566" cy="1111643"/>
            </a:xfrm>
            <a:custGeom>
              <a:avLst/>
              <a:gdLst/>
              <a:ahLst/>
              <a:cxnLst/>
              <a:rect r="r" b="b" t="t" l="l"/>
              <a:pathLst>
                <a:path h="1111643" w="2932566">
                  <a:moveTo>
                    <a:pt x="17311" y="0"/>
                  </a:moveTo>
                  <a:lnTo>
                    <a:pt x="2915255" y="0"/>
                  </a:lnTo>
                  <a:cubicBezTo>
                    <a:pt x="2919846" y="0"/>
                    <a:pt x="2924249" y="1824"/>
                    <a:pt x="2927496" y="5070"/>
                  </a:cubicBezTo>
                  <a:cubicBezTo>
                    <a:pt x="2930742" y="8317"/>
                    <a:pt x="2932566" y="12720"/>
                    <a:pt x="2932566" y="17311"/>
                  </a:cubicBezTo>
                  <a:lnTo>
                    <a:pt x="2932566" y="1094331"/>
                  </a:lnTo>
                  <a:cubicBezTo>
                    <a:pt x="2932566" y="1098923"/>
                    <a:pt x="2930742" y="1103326"/>
                    <a:pt x="2927496" y="1106572"/>
                  </a:cubicBezTo>
                  <a:cubicBezTo>
                    <a:pt x="2924249" y="1109819"/>
                    <a:pt x="2919846" y="1111643"/>
                    <a:pt x="2915255" y="1111643"/>
                  </a:cubicBezTo>
                  <a:lnTo>
                    <a:pt x="17311" y="1111643"/>
                  </a:lnTo>
                  <a:cubicBezTo>
                    <a:pt x="12720" y="1111643"/>
                    <a:pt x="8317" y="1109819"/>
                    <a:pt x="5070" y="1106572"/>
                  </a:cubicBezTo>
                  <a:cubicBezTo>
                    <a:pt x="1824" y="1103326"/>
                    <a:pt x="0" y="1098923"/>
                    <a:pt x="0" y="1094331"/>
                  </a:cubicBezTo>
                  <a:lnTo>
                    <a:pt x="0" y="17311"/>
                  </a:lnTo>
                  <a:cubicBezTo>
                    <a:pt x="0" y="12720"/>
                    <a:pt x="1824" y="8317"/>
                    <a:pt x="5070" y="5070"/>
                  </a:cubicBezTo>
                  <a:cubicBezTo>
                    <a:pt x="8317" y="1824"/>
                    <a:pt x="12720" y="0"/>
                    <a:pt x="17311" y="0"/>
                  </a:cubicBezTo>
                  <a:close/>
                </a:path>
              </a:pathLst>
            </a:custGeom>
            <a:solidFill>
              <a:srgbClr val="5666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32566" cy="114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8469" y="1747337"/>
            <a:ext cx="670403" cy="703667"/>
          </a:xfrm>
          <a:custGeom>
            <a:avLst/>
            <a:gdLst/>
            <a:ahLst/>
            <a:cxnLst/>
            <a:rect r="r" b="b" t="t" l="l"/>
            <a:pathLst>
              <a:path h="703667" w="670403">
                <a:moveTo>
                  <a:pt x="0" y="0"/>
                </a:moveTo>
                <a:lnTo>
                  <a:pt x="670403" y="0"/>
                </a:lnTo>
                <a:lnTo>
                  <a:pt x="670403" y="703667"/>
                </a:lnTo>
                <a:lnTo>
                  <a:pt x="0" y="703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15264000" y="15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93E"/>
                </a:solidFill>
                <a:latin typeface="Calibri"/>
              </a:rPr>
              <a:t>BUAP  MCSD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1764000"/>
            <a:ext cx="180000" cy="720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0000" y="1728000"/>
            <a:ext cx="12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5193E"/>
                </a:solidFill>
                <a:latin typeface="Calibri"/>
              </a:rPr>
              <a:t>CONCLUSIONES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0000" y="2951999"/>
            <a:ext cx="540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0000" y="3060000"/>
            <a:ext cx="5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000" y="2951999"/>
            <a:ext cx="14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El kernel Prewitt es memory-bound. I = 0.333 &lt; 0.387 FLOP/Byte. El cuello de botella es la memoria, no el calculo.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0000" y="4140000"/>
            <a:ext cx="540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0000" y="4248000"/>
            <a:ext cx="5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4140000"/>
            <a:ext cx="14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La vectorizacion produce ganancias modestas: maximo 1.24x. La memoria limita el rendimiento mas que el ancho SIMD.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0000" y="5328000"/>
            <a:ext cx="540000" cy="648000"/>
          </a:xfrm>
          <a:prstGeom prst="rect">
            <a:avLst/>
          </a:prstGeom>
          <a:solidFill>
            <a:srgbClr val="566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0000" y="5436000"/>
            <a:ext cx="5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5328000"/>
            <a:ext cx="14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666F8"/>
                </a:solidFill>
                <a:latin typeface="Calibri"/>
              </a:rPr>
              <a:t>La vectorizacion automatica es la mas eficiente: -O3 -march=native elige ancho 16 y supera a la explicita.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20000" y="6515999"/>
            <a:ext cx="540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0000" y="6623999"/>
            <a:ext cx="5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6515999"/>
            <a:ext cx="14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La vectorizacion guiada requiere elegir bien el simdlen. simdlen(8) fue suboptimo frente al 16 del compilador.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20000" y="7703999"/>
            <a:ext cx="540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0000" y="7812000"/>
            <a:ext cx="5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0000" y="7703999"/>
            <a:ext cx="14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El 88% del programa es escalar. La Ley de Amdahl predice un limite de 1.14x en el speedup total del programa.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0000" y="8892000"/>
            <a:ext cx="540000" cy="648000"/>
          </a:xfrm>
          <a:prstGeom prst="rect">
            <a:avLst/>
          </a:prstGeom>
          <a:solidFill>
            <a:srgbClr val="151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20000" y="9000000"/>
            <a:ext cx="5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000" y="8892000"/>
            <a:ext cx="14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5193E"/>
                </a:solidFill>
                <a:latin typeface="Calibri"/>
              </a:rPr>
              <a:t>Intel Advisor confirma todo: Survey, Roofline y Trip counts dan evidencia objetiva del comportamiento memory-bound.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531401" y="7032332"/>
            <a:ext cx="7225199" cy="700433"/>
            <a:chOff x="0" y="0"/>
            <a:chExt cx="1356880" cy="131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6880" cy="131540"/>
            </a:xfrm>
            <a:custGeom>
              <a:avLst/>
              <a:gdLst/>
              <a:ahLst/>
              <a:cxnLst/>
              <a:rect r="r" b="b" t="t" l="l"/>
              <a:pathLst>
                <a:path h="131540" w="135688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613950" y="1825372"/>
            <a:ext cx="955143" cy="1002536"/>
          </a:xfrm>
          <a:custGeom>
            <a:avLst/>
            <a:gdLst/>
            <a:ahLst/>
            <a:cxnLst/>
            <a:rect r="r" b="b" t="t" l="l"/>
            <a:pathLst>
              <a:path h="1002536" w="955143">
                <a:moveTo>
                  <a:pt x="0" y="0"/>
                </a:moveTo>
                <a:lnTo>
                  <a:pt x="955143" y="0"/>
                </a:lnTo>
                <a:lnTo>
                  <a:pt x="955143" y="1002536"/>
                </a:lnTo>
                <a:lnTo>
                  <a:pt x="0" y="1002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2880000" y="3060000"/>
            <a:ext cx="12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4860000"/>
            <a:ext cx="12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F2FD"/>
                </a:solidFill>
                <a:latin typeface="Calibri"/>
              </a:rPr>
              <a:t>Vectorizacion de un Kernel Numerico - Operador Prewitt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120000"/>
            <a:ext cx="12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B02C"/>
                </a:solidFill>
                <a:latin typeface="Calibri"/>
              </a:rPr>
              <a:t>Preguntas?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738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4E5EC"/>
                </a:solidFill>
                <a:latin typeface="Calibri"/>
              </a:rPr>
              <a:t>Dr. Mario Rossainz Lopez  |  BUAP  |  Plataformas Multicore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DAHDhTA-ZcQ</dc:identifier>
  <dcterms:modified xsi:type="dcterms:W3CDTF">2011-08-01T06:04:30Z</dcterms:modified>
  <cp:revision>1</cp:revision>
  <dc:title>Presentación Proyecto de Negocios Moderno Azul</dc:title>
</cp:coreProperties>
</file>